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1"/>
  </p:notesMasterIdLst>
  <p:sldIdLst>
    <p:sldId id="256" r:id="rId2"/>
    <p:sldId id="257" r:id="rId3"/>
    <p:sldId id="281" r:id="rId4"/>
    <p:sldId id="258" r:id="rId5"/>
    <p:sldId id="259" r:id="rId6"/>
    <p:sldId id="304" r:id="rId7"/>
    <p:sldId id="261" r:id="rId8"/>
    <p:sldId id="308" r:id="rId9"/>
    <p:sldId id="309" r:id="rId10"/>
    <p:sldId id="306" r:id="rId11"/>
    <p:sldId id="284" r:id="rId12"/>
    <p:sldId id="299" r:id="rId13"/>
    <p:sldId id="310" r:id="rId14"/>
    <p:sldId id="311" r:id="rId15"/>
    <p:sldId id="312" r:id="rId16"/>
    <p:sldId id="301" r:id="rId17"/>
    <p:sldId id="278" r:id="rId18"/>
    <p:sldId id="307" r:id="rId19"/>
    <p:sldId id="29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16"/>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4648" autoAdjust="0"/>
  </p:normalViewPr>
  <p:slideViewPr>
    <p:cSldViewPr>
      <p:cViewPr varScale="1">
        <p:scale>
          <a:sx n="59" d="100"/>
          <a:sy n="59" d="100"/>
        </p:scale>
        <p:origin x="1516" y="52"/>
      </p:cViewPr>
      <p:guideLst>
        <p:guide orient="horz" pos="2160"/>
        <p:guide pos="2880"/>
      </p:guideLst>
    </p:cSldViewPr>
  </p:slideViewPr>
  <p:outlineViewPr>
    <p:cViewPr>
      <p:scale>
        <a:sx n="33" d="100"/>
        <a:sy n="33" d="100"/>
      </p:scale>
      <p:origin x="0" y="56508"/>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3B4B7A-3147-4CDD-8BDD-F641B51FB63F}" type="datetimeFigureOut">
              <a:rPr lang="en-IN" smtClean="0"/>
              <a:t>16-11-2025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C1CADA-C3BB-448E-94B5-BBC85E91B4D6}" type="slidenum">
              <a:rPr lang="en-IN" smtClean="0"/>
              <a:t>‹#›</a:t>
            </a:fld>
            <a:endParaRPr lang="en-IN"/>
          </a:p>
        </p:txBody>
      </p:sp>
    </p:spTree>
    <p:extLst>
      <p:ext uri="{BB962C8B-B14F-4D97-AF65-F5344CB8AC3E}">
        <p14:creationId xmlns:p14="http://schemas.microsoft.com/office/powerpoint/2010/main" val="2287828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2533972B-1042-459C-BC56-31C88BC8D7F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33972B-1042-459C-BC56-31C88BC8D7F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33972B-1042-459C-BC56-31C88BC8D7F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33972B-1042-459C-BC56-31C88BC8D7F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33972B-1042-459C-BC56-31C88BC8D7F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33972B-1042-459C-BC56-31C88BC8D7F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33972B-1042-459C-BC56-31C88BC8D7F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33972B-1042-459C-BC56-31C88BC8D7F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2533972B-1042-459C-BC56-31C88BC8D7FD}"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33972B-1042-459C-BC56-31C88BC8D7F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7573C7-DCDC-47D3-B366-A7481BAACD10}" type="datetimeFigureOut">
              <a:rPr lang="en-US" smtClean="0"/>
              <a:pPr/>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33972B-1042-459C-BC56-31C88BC8D7F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97573C7-DCDC-47D3-B366-A7481BAACD10}" type="datetimeFigureOut">
              <a:rPr lang="en-US" smtClean="0"/>
              <a:pPr/>
              <a:t>11/16/2025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533972B-1042-459C-BC56-31C88BC8D7FD}"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6200" y="2057400"/>
            <a:ext cx="9525000" cy="3756025"/>
          </a:xfrm>
        </p:spPr>
        <p:txBody>
          <a:bodyPr>
            <a:noAutofit/>
          </a:bodyPr>
          <a:lstStyle/>
          <a:p>
            <a:pPr marL="883285" marR="1263650" algn="ctr">
              <a:lnSpc>
                <a:spcPct val="167000"/>
              </a:lnSpc>
              <a:spcBef>
                <a:spcPts val="910"/>
              </a:spcBef>
            </a:pPr>
            <a:br>
              <a:rPr lang="en-IN" sz="3200" dirty="0">
                <a:solidFill>
                  <a:schemeClr val="bg1"/>
                </a:solidFill>
                <a:effectLst/>
                <a:latin typeface="Times New Roman" pitchFamily="18" charset="0"/>
                <a:cs typeface="Times New Roman" pitchFamily="18" charset="0"/>
              </a:rPr>
            </a:br>
            <a:br>
              <a:rPr lang="en-IN" sz="3200" dirty="0">
                <a:solidFill>
                  <a:schemeClr val="bg1"/>
                </a:solidFill>
                <a:effectLst/>
                <a:latin typeface="Times New Roman" pitchFamily="18" charset="0"/>
                <a:cs typeface="Times New Roman" pitchFamily="18" charset="0"/>
              </a:rPr>
            </a:br>
            <a:br>
              <a:rPr lang="en-US" sz="1800" b="1" dirty="0">
                <a:effectLst/>
                <a:latin typeface="Times New Roman" panose="02020603050405020304" pitchFamily="18" charset="0"/>
                <a:ea typeface="Times New Roman" panose="02020603050405020304" pitchFamily="18" charset="0"/>
              </a:rPr>
            </a:br>
            <a:br>
              <a:rPr lang="en-US" sz="4000" dirty="0">
                <a:solidFill>
                  <a:schemeClr val="bg1">
                    <a:lumMod val="95000"/>
                    <a:lumOff val="5000"/>
                  </a:schemeClr>
                </a:solidFill>
                <a:latin typeface="Times New Roman" pitchFamily="18" charset="0"/>
                <a:cs typeface="Times New Roman" pitchFamily="18" charset="0"/>
              </a:rPr>
            </a:br>
            <a:endParaRPr lang="en-US" sz="4000" dirty="0">
              <a:solidFill>
                <a:schemeClr val="bg1">
                  <a:lumMod val="95000"/>
                  <a:lumOff val="5000"/>
                </a:schemeClr>
              </a:solidFill>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0"/>
            <a:ext cx="92202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1143000"/>
          </a:xfrm>
        </p:spPr>
        <p:txBody>
          <a:bodyPr>
            <a:normAutofit/>
          </a:bodyPr>
          <a:lstStyle/>
          <a:p>
            <a:pPr algn="ctr"/>
            <a:r>
              <a:rPr lang="en-US" sz="4000" b="1" dirty="0">
                <a:latin typeface="Times New Roman" pitchFamily="18" charset="0"/>
                <a:cs typeface="Times New Roman" pitchFamily="18" charset="0"/>
              </a:rPr>
              <a:t>Overview</a:t>
            </a:r>
          </a:p>
        </p:txBody>
      </p:sp>
      <p:sp>
        <p:nvSpPr>
          <p:cNvPr id="3" name="Content Placeholder 2"/>
          <p:cNvSpPr>
            <a:spLocks noGrp="1"/>
          </p:cNvSpPr>
          <p:nvPr>
            <p:ph idx="1"/>
          </p:nvPr>
        </p:nvSpPr>
        <p:spPr>
          <a:xfrm>
            <a:off x="457200" y="1600200"/>
            <a:ext cx="8305800" cy="5029200"/>
          </a:xfrm>
        </p:spPr>
        <p:txBody>
          <a:bodyPr>
            <a:normAutofit/>
          </a:bodyPr>
          <a:lstStyle/>
          <a:p>
            <a:r>
              <a:rPr lang="en-US" sz="2400" dirty="0">
                <a:latin typeface="Times New Roman" pitchFamily="18" charset="0"/>
                <a:cs typeface="Times New Roman" pitchFamily="18" charset="0"/>
              </a:rPr>
              <a:t>Abstract </a:t>
            </a:r>
          </a:p>
          <a:p>
            <a:r>
              <a:rPr lang="en-US" sz="2400" dirty="0">
                <a:latin typeface="Times New Roman" pitchFamily="18" charset="0"/>
                <a:cs typeface="Times New Roman" pitchFamily="18" charset="0"/>
              </a:rPr>
              <a:t>Introduction</a:t>
            </a:r>
          </a:p>
          <a:p>
            <a:r>
              <a:rPr lang="en-US" sz="2400" dirty="0">
                <a:latin typeface="Times New Roman" pitchFamily="18" charset="0"/>
                <a:cs typeface="Times New Roman" pitchFamily="18" charset="0"/>
              </a:rPr>
              <a:t>Why rainfall Prediction is required?</a:t>
            </a:r>
          </a:p>
          <a:p>
            <a:r>
              <a:rPr lang="en-US" sz="2400" dirty="0">
                <a:latin typeface="Times New Roman" pitchFamily="18" charset="0"/>
                <a:cs typeface="Times New Roman" pitchFamily="18" charset="0"/>
              </a:rPr>
              <a:t>Existing techniques of rainfall prediction and their limitations</a:t>
            </a:r>
          </a:p>
          <a:p>
            <a:r>
              <a:rPr lang="en-US" sz="2400" dirty="0">
                <a:latin typeface="Times New Roman" pitchFamily="18" charset="0"/>
                <a:cs typeface="Times New Roman" pitchFamily="18" charset="0"/>
              </a:rPr>
              <a:t>Proposed scheme</a:t>
            </a:r>
          </a:p>
          <a:p>
            <a:r>
              <a:rPr lang="en-US" sz="2400" dirty="0">
                <a:latin typeface="Times New Roman" pitchFamily="18" charset="0"/>
                <a:cs typeface="Times New Roman" pitchFamily="18" charset="0"/>
              </a:rPr>
              <a:t>Results </a:t>
            </a:r>
          </a:p>
          <a:p>
            <a:r>
              <a:rPr lang="en-US" sz="2400" dirty="0">
                <a:latin typeface="Times New Roman" pitchFamily="18" charset="0"/>
                <a:cs typeface="Times New Roman" pitchFamily="18" charset="0"/>
              </a:rPr>
              <a:t>Conclusion</a:t>
            </a:r>
          </a:p>
          <a:p>
            <a:r>
              <a:rPr lang="en-US" sz="2400" dirty="0">
                <a:latin typeface="Times New Roman" pitchFamily="18" charset="0"/>
                <a:cs typeface="Times New Roman" pitchFamily="18" charset="0"/>
              </a:rPr>
              <a:t>Python Libraries </a:t>
            </a:r>
          </a:p>
          <a:p>
            <a:r>
              <a:rPr lang="en-US" sz="2400" dirty="0">
                <a:latin typeface="Times New Roman" pitchFamily="18" charset="0"/>
                <a:cs typeface="Times New Roman"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itchFamily="18" charset="0"/>
                <a:cs typeface="Times New Roman" pitchFamily="18" charset="0"/>
              </a:rPr>
              <a:t>Abstract</a:t>
            </a:r>
          </a:p>
        </p:txBody>
      </p:sp>
      <p:sp>
        <p:nvSpPr>
          <p:cNvPr id="3" name="Content Placeholder 2"/>
          <p:cNvSpPr>
            <a:spLocks noGrp="1"/>
          </p:cNvSpPr>
          <p:nvPr>
            <p:ph idx="1"/>
          </p:nvPr>
        </p:nvSpPr>
        <p:spPr/>
        <p:txBody>
          <a:bodyPr>
            <a:normAutofit/>
          </a:bodyPr>
          <a:lstStyle/>
          <a:p>
            <a:pPr algn="just">
              <a:lnSpc>
                <a:spcPct val="150000"/>
              </a:lnSpc>
            </a:pPr>
            <a:r>
              <a:rPr lang="en-IN" sz="2000" dirty="0">
                <a:latin typeface="Times New Roman" pitchFamily="18" charset="0"/>
                <a:cs typeface="Times New Roman" pitchFamily="18" charset="0"/>
              </a:rPr>
              <a:t>India’s revenue heavily dependent on agriculture and agricultural growth is heavily dependent on Rain/Precipitation so its mandatory to effectively predict the quantity of rainfall in future time so farmers can plan sowing and other agricultural works based on that prediction.</a:t>
            </a:r>
          </a:p>
          <a:p>
            <a:pPr algn="just">
              <a:lnSpc>
                <a:spcPct val="150000"/>
              </a:lnSpc>
            </a:pPr>
            <a:r>
              <a:rPr lang="en-IN" sz="2000" dirty="0">
                <a:latin typeface="Times New Roman" pitchFamily="18" charset="0"/>
                <a:cs typeface="Times New Roman" pitchFamily="18" charset="0"/>
              </a:rPr>
              <a:t> So author of this paper evaluating the performance of various machine learning algorithms such as SVM, ARIMA, Neural Networks and many more to predict/forecast rainfall and then enhancing accuracy of best performing model.</a:t>
            </a:r>
          </a:p>
          <a:p>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7772400" cy="1143000"/>
          </a:xfrm>
        </p:spPr>
        <p:txBody>
          <a:bodyPr>
            <a:normAutofit/>
          </a:bodyPr>
          <a:lstStyle/>
          <a:p>
            <a:pPr algn="ctr"/>
            <a:r>
              <a:rPr lang="en-US" sz="4000" b="1" dirty="0">
                <a:latin typeface="Times New Roman" pitchFamily="18" charset="0"/>
                <a:cs typeface="Times New Roman" pitchFamily="18" charset="0"/>
              </a:rPr>
              <a:t>Introduction</a:t>
            </a:r>
          </a:p>
        </p:txBody>
      </p:sp>
      <p:sp>
        <p:nvSpPr>
          <p:cNvPr id="3" name="Content Placeholder 2"/>
          <p:cNvSpPr>
            <a:spLocks noGrp="1"/>
          </p:cNvSpPr>
          <p:nvPr>
            <p:ph idx="1"/>
          </p:nvPr>
        </p:nvSpPr>
        <p:spPr>
          <a:xfrm>
            <a:off x="304800" y="1219200"/>
            <a:ext cx="8763000" cy="5486400"/>
          </a:xfrm>
        </p:spPr>
        <p:txBody>
          <a:bodyPr>
            <a:normAutofit fontScale="92500" lnSpcReduction="10000"/>
          </a:bodyPr>
          <a:lstStyle/>
          <a:p>
            <a:pPr algn="just">
              <a:lnSpc>
                <a:spcPct val="150000"/>
              </a:lnSpc>
            </a:pPr>
            <a:r>
              <a:rPr lang="en-IN" sz="2000" dirty="0">
                <a:latin typeface="Times New Roman" pitchFamily="18" charset="0"/>
                <a:cs typeface="Times New Roman" pitchFamily="18" charset="0"/>
              </a:rPr>
              <a:t>In agribusiness Majority is depends on precipitation in India, where the as its standard wellspring of water, the time and measure of precipitation hold high importance and can impact the entire economy of the nation. </a:t>
            </a:r>
          </a:p>
          <a:p>
            <a:pPr algn="just">
              <a:lnSpc>
                <a:spcPct val="150000"/>
              </a:lnSpc>
            </a:pPr>
            <a:r>
              <a:rPr lang="en-IN" sz="2000" dirty="0">
                <a:latin typeface="Times New Roman" pitchFamily="18" charset="0"/>
                <a:cs typeface="Times New Roman" pitchFamily="18" charset="0"/>
              </a:rPr>
              <a:t>Climate plays a vital role in our everyday life. </a:t>
            </a:r>
          </a:p>
          <a:p>
            <a:pPr algn="just">
              <a:lnSpc>
                <a:spcPct val="150000"/>
              </a:lnSpc>
            </a:pPr>
            <a:r>
              <a:rPr lang="en-IN" sz="2000" dirty="0">
                <a:latin typeface="Times New Roman" pitchFamily="18" charset="0"/>
                <a:cs typeface="Times New Roman" pitchFamily="18" charset="0"/>
              </a:rPr>
              <a:t>From the earliest starting point of the human development, we are occupied with thinking about climatic changes. </a:t>
            </a:r>
          </a:p>
          <a:p>
            <a:pPr algn="just">
              <a:lnSpc>
                <a:spcPct val="150000"/>
              </a:lnSpc>
            </a:pPr>
            <a:r>
              <a:rPr lang="en-IN" sz="2000" dirty="0">
                <a:latin typeface="Times New Roman" pitchFamily="18" charset="0"/>
                <a:cs typeface="Times New Roman" pitchFamily="18" charset="0"/>
              </a:rPr>
              <a:t>Weather forecasting is one of the most challenging issues seen by the world, in a most recent couple of century in the field of science and technology.</a:t>
            </a:r>
          </a:p>
          <a:p>
            <a:pPr algn="just">
              <a:lnSpc>
                <a:spcPct val="150000"/>
              </a:lnSpc>
            </a:pPr>
            <a:r>
              <a:rPr lang="en-IN" sz="2000" dirty="0">
                <a:latin typeface="Times New Roman" pitchFamily="18" charset="0"/>
                <a:cs typeface="Times New Roman" pitchFamily="18" charset="0"/>
              </a:rPr>
              <a:t>Prediction is the phenomena of knowing what may happen to a system in the near future. </a:t>
            </a:r>
          </a:p>
          <a:p>
            <a:pPr algn="just">
              <a:lnSpc>
                <a:spcPct val="150000"/>
              </a:lnSpc>
            </a:pPr>
            <a:r>
              <a:rPr lang="en-IN" sz="2000" dirty="0">
                <a:latin typeface="Times New Roman" pitchFamily="18" charset="0"/>
                <a:cs typeface="Times New Roman" pitchFamily="18" charset="0"/>
              </a:rPr>
              <a:t>As India's economy significantly depends on horticulture, precipitation plays an important part</a:t>
            </a:r>
          </a:p>
          <a:p>
            <a:pPr marL="0" indent="0" algn="just">
              <a:buNone/>
            </a:pPr>
            <a:endParaRPr lang="en-US" sz="2000" dirty="0">
              <a:latin typeface="Cambria"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6248400"/>
          </a:xfrm>
        </p:spPr>
        <p:txBody>
          <a:bodyPr>
            <a:normAutofit fontScale="92500" lnSpcReduction="10000"/>
          </a:bodyPr>
          <a:lstStyle/>
          <a:p>
            <a:pPr marL="0" indent="0" algn="ctr">
              <a:lnSpc>
                <a:spcPct val="150000"/>
              </a:lnSpc>
              <a:buNone/>
            </a:pPr>
            <a:r>
              <a:rPr lang="en-US" sz="3000" b="1" dirty="0">
                <a:solidFill>
                  <a:schemeClr val="tx2"/>
                </a:solidFill>
                <a:latin typeface="Times New Roman" pitchFamily="18" charset="0"/>
                <a:cs typeface="Times New Roman" pitchFamily="18" charset="0"/>
              </a:rPr>
              <a:t>Why Rainfall prediction required? </a:t>
            </a:r>
          </a:p>
          <a:p>
            <a:pPr algn="just">
              <a:lnSpc>
                <a:spcPct val="150000"/>
              </a:lnSpc>
            </a:pPr>
            <a:r>
              <a:rPr lang="en-US" sz="2400" dirty="0">
                <a:latin typeface="Times New Roman" pitchFamily="18" charset="0"/>
                <a:cs typeface="Times New Roman" pitchFamily="18" charset="0"/>
              </a:rPr>
              <a:t>Rainfall prediction is important as heavy rainfall can lead to many disasters. </a:t>
            </a:r>
          </a:p>
          <a:p>
            <a:pPr algn="just">
              <a:lnSpc>
                <a:spcPct val="150000"/>
              </a:lnSpc>
            </a:pPr>
            <a:r>
              <a:rPr lang="en-US" sz="2400" dirty="0">
                <a:latin typeface="Times New Roman" pitchFamily="18" charset="0"/>
                <a:cs typeface="Times New Roman" pitchFamily="18" charset="0"/>
              </a:rPr>
              <a:t>The prediction helps people to take preventive measures and moreover the prediction should be accurate. </a:t>
            </a:r>
          </a:p>
          <a:p>
            <a:pPr algn="just">
              <a:lnSpc>
                <a:spcPct val="150000"/>
              </a:lnSpc>
            </a:pPr>
            <a:r>
              <a:rPr lang="en-US" sz="2400" dirty="0">
                <a:latin typeface="Times New Roman" pitchFamily="18" charset="0"/>
                <a:cs typeface="Times New Roman" pitchFamily="18" charset="0"/>
              </a:rPr>
              <a:t>There are two types of prediction short term rainfall prediction and long term rainfall.</a:t>
            </a:r>
          </a:p>
          <a:p>
            <a:pPr algn="just">
              <a:lnSpc>
                <a:spcPct val="150000"/>
              </a:lnSpc>
            </a:pPr>
            <a:r>
              <a:rPr lang="en-US" sz="2400" dirty="0">
                <a:latin typeface="Times New Roman" pitchFamily="18" charset="0"/>
                <a:cs typeface="Times New Roman" pitchFamily="18" charset="0"/>
              </a:rPr>
              <a:t>Rainfall forecasting is very important because heavy and irregular rainfall can have many impacts like destruction of crops and farms, damage of property so a better forecasting model is essential for an early warning that can minimize risks to life and property and also managing the agricultural farms in better way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305800" cy="5715000"/>
          </a:xfrm>
        </p:spPr>
        <p:txBody>
          <a:bodyPr>
            <a:normAutofit fontScale="92500" lnSpcReduction="10000"/>
          </a:bodyPr>
          <a:lstStyle/>
          <a:p>
            <a:pPr algn="just">
              <a:lnSpc>
                <a:spcPct val="150000"/>
              </a:lnSpc>
            </a:pPr>
            <a:r>
              <a:rPr lang="en-US" sz="2000" dirty="0">
                <a:latin typeface="Times New Roman" pitchFamily="18" charset="0"/>
                <a:cs typeface="Times New Roman" pitchFamily="18" charset="0"/>
              </a:rPr>
              <a:t>Besides disease, rainfall can also determine how fast a crop will grow from seed, including when it will be ready for harvesting. </a:t>
            </a:r>
          </a:p>
          <a:p>
            <a:pPr algn="just">
              <a:lnSpc>
                <a:spcPct val="150000"/>
              </a:lnSpc>
            </a:pPr>
            <a:r>
              <a:rPr lang="en-US" sz="2000" dirty="0">
                <a:latin typeface="Times New Roman" pitchFamily="18" charset="0"/>
                <a:cs typeface="Times New Roman" pitchFamily="18" charset="0"/>
              </a:rPr>
              <a:t>A good balance of rain and proper irrigation can lead to faster-growing plants, which can cut down on germination time and the length between seeding and harvest.</a:t>
            </a:r>
          </a:p>
          <a:p>
            <a:pPr algn="just">
              <a:lnSpc>
                <a:spcPct val="150000"/>
              </a:lnSpc>
            </a:pPr>
            <a:r>
              <a:rPr lang="en-US" sz="2000" dirty="0">
                <a:latin typeface="Times New Roman" pitchFamily="18" charset="0"/>
                <a:cs typeface="Times New Roman" pitchFamily="18" charset="0"/>
              </a:rPr>
              <a:t> Unseasonably high temperatures on the farm may result in poorer plant productivity and an increase in pests. </a:t>
            </a:r>
          </a:p>
          <a:p>
            <a:pPr algn="just">
              <a:lnSpc>
                <a:spcPct val="150000"/>
              </a:lnSpc>
            </a:pPr>
            <a:r>
              <a:rPr lang="en-US" sz="2000" dirty="0">
                <a:latin typeface="Times New Roman" pitchFamily="18" charset="0"/>
                <a:cs typeface="Times New Roman" pitchFamily="18" charset="0"/>
              </a:rPr>
              <a:t>To safeguard the farm and crops from insects, pests, and disease control is necessary. </a:t>
            </a:r>
          </a:p>
          <a:p>
            <a:pPr algn="just">
              <a:lnSpc>
                <a:spcPct val="150000"/>
              </a:lnSpc>
            </a:pPr>
            <a:r>
              <a:rPr lang="en-US" sz="2000" dirty="0">
                <a:latin typeface="Times New Roman" pitchFamily="18" charset="0"/>
                <a:cs typeface="Times New Roman" pitchFamily="18" charset="0"/>
              </a:rPr>
              <a:t>Farmers can use weather forecasts to choose when to apply pesticides and insecticides to avoid crop loss.</a:t>
            </a:r>
            <a:r>
              <a:rPr lang="en-US" sz="2000" dirty="0"/>
              <a:t> </a:t>
            </a:r>
            <a:r>
              <a:rPr lang="en-US" sz="2000" dirty="0">
                <a:latin typeface="Times New Roman" pitchFamily="18" charset="0"/>
                <a:cs typeface="Times New Roman" pitchFamily="18" charset="0"/>
              </a:rPr>
              <a:t>Classifying the rainfall gives us the good classification accuracy but our ultimate goal is to predict the rainfall using the other forecasted parameters.</a:t>
            </a:r>
            <a:endParaRPr lang="en-US" sz="20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3993174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Times New Roman" pitchFamily="18" charset="0"/>
                <a:cs typeface="Times New Roman" pitchFamily="18" charset="0"/>
              </a:rPr>
              <a:t>Existing techniques of rainfall prediction and their limitations</a:t>
            </a:r>
          </a:p>
        </p:txBody>
      </p:sp>
      <p:sp>
        <p:nvSpPr>
          <p:cNvPr id="3" name="Content Placeholder 2"/>
          <p:cNvSpPr>
            <a:spLocks noGrp="1"/>
          </p:cNvSpPr>
          <p:nvPr>
            <p:ph idx="1"/>
          </p:nvPr>
        </p:nvSpPr>
        <p:spPr>
          <a:xfrm>
            <a:off x="990600" y="1981200"/>
            <a:ext cx="8001000" cy="4648200"/>
          </a:xfrm>
        </p:spPr>
        <p:txBody>
          <a:bodyPr>
            <a:normAutofit lnSpcReduction="10000"/>
          </a:bodyPr>
          <a:lstStyle/>
          <a:p>
            <a:pPr lvl="2" algn="just">
              <a:lnSpc>
                <a:spcPct val="150000"/>
              </a:lnSpc>
            </a:pPr>
            <a:endParaRPr lang="en-US" sz="2000" dirty="0">
              <a:latin typeface="Times New Roman" pitchFamily="18" charset="0"/>
              <a:cs typeface="Times New Roman" pitchFamily="18" charset="0"/>
            </a:endParaRPr>
          </a:p>
          <a:p>
            <a:pPr algn="just">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Astrology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By meteorological department experts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Study of clouds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latin typeface="Times New Roman" pitchFamily="18" charset="0"/>
                <a:cs typeface="Times New Roman" pitchFamily="18" charset="0"/>
              </a:rPr>
              <a:t>Using SVM, ARIMA, Neural Networks.</a:t>
            </a:r>
          </a:p>
          <a:p>
            <a:pPr algn="just">
              <a:lnSpc>
                <a:spcPct val="150000"/>
              </a:lnSpc>
              <a:spcAft>
                <a:spcPts val="800"/>
              </a:spcAft>
            </a:pPr>
            <a:r>
              <a:rPr lang="en-US" sz="2000" dirty="0">
                <a:latin typeface="Times New Roman" pitchFamily="18" charset="0"/>
                <a:cs typeface="Times New Roman" pitchFamily="18" charset="0"/>
              </a:rPr>
              <a:t>Rainfall prediction has been the one of the most challenging issue around the world in last year. Widely used techniques for prediction are Regression analysis, clustering, and Artificial Neural Network (ANN)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63B7F-F753-2A9B-49A2-7D34235A7FFF}"/>
              </a:ext>
            </a:extLst>
          </p:cNvPr>
          <p:cNvSpPr>
            <a:spLocks noGrp="1"/>
          </p:cNvSpPr>
          <p:nvPr>
            <p:ph type="title"/>
          </p:nvPr>
        </p:nvSpPr>
        <p:spPr>
          <a:xfrm>
            <a:off x="457200" y="914400"/>
            <a:ext cx="8229600" cy="1295400"/>
          </a:xfrm>
        </p:spPr>
        <p:txBody>
          <a:bodyPr>
            <a:normAutofit fontScale="90000"/>
          </a:bodyPr>
          <a:lstStyle/>
          <a:p>
            <a:r>
              <a:rPr lang="en-IN" sz="3100" b="1" dirty="0">
                <a:effectLst/>
                <a:latin typeface="Times New Roman" panose="02020603050405020304" pitchFamily="18" charset="0"/>
                <a:ea typeface="Calibri" panose="020F0502020204030204" pitchFamily="34" charset="0"/>
                <a:cs typeface="Times New Roman" panose="02020603050405020304" pitchFamily="18" charset="0"/>
              </a:rPr>
              <a:t>Limitations/ Drawbacks of Existing Method</a:t>
            </a:r>
            <a:br>
              <a:rPr lang="en-IN" sz="2000" dirty="0">
                <a:effectLst/>
                <a:latin typeface="Calibri" panose="020F0502020204030204" pitchFamily="34" charset="0"/>
                <a:ea typeface="Calibri" panose="020F0502020204030204" pitchFamily="34" charset="0"/>
                <a:cs typeface="Times New Roman" panose="02020603050405020304" pitchFamily="18" charset="0"/>
              </a:rPr>
            </a:br>
            <a:endParaRPr lang="en-IN" sz="5400" dirty="0"/>
          </a:p>
        </p:txBody>
      </p:sp>
      <p:sp>
        <p:nvSpPr>
          <p:cNvPr id="3" name="Content Placeholder 2">
            <a:extLst>
              <a:ext uri="{FF2B5EF4-FFF2-40B4-BE49-F238E27FC236}">
                <a16:creationId xmlns:a16="http://schemas.microsoft.com/office/drawing/2014/main" id="{E24D6D39-7FC4-FE6A-A229-6B71988D36B3}"/>
              </a:ext>
            </a:extLst>
          </p:cNvPr>
          <p:cNvSpPr>
            <a:spLocks noGrp="1"/>
          </p:cNvSpPr>
          <p:nvPr>
            <p:ph idx="1"/>
          </p:nvPr>
        </p:nvSpPr>
        <p:spPr>
          <a:xfrm>
            <a:off x="609600" y="1828800"/>
            <a:ext cx="8229600" cy="4267200"/>
          </a:xfrm>
        </p:spPr>
        <p:txBody>
          <a:bodyPr/>
          <a:lstStyle/>
          <a:p>
            <a:pPr marL="342900" lvl="0" indent="-342900" algn="just">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Less accuracy</a:t>
            </a:r>
            <a:endParaRPr lang="en-IN" sz="20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For experts it taking more time and even cost</a:t>
            </a:r>
            <a:endParaRPr lang="en-IN" sz="2000" b="1"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Expert to expert results may vary</a:t>
            </a:r>
            <a:endParaRPr lang="en-IN" sz="20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69880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8F053-9F1B-1616-45BF-338F087A10E6}"/>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Proposed Method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D03D6A-F91E-6A17-E600-E3F8E2AE028C}"/>
              </a:ext>
            </a:extLst>
          </p:cNvPr>
          <p:cNvSpPr>
            <a:spLocks noGrp="1"/>
          </p:cNvSpPr>
          <p:nvPr>
            <p:ph idx="1"/>
          </p:nvPr>
        </p:nvSpPr>
        <p:spPr>
          <a:xfrm>
            <a:off x="457200" y="2514600"/>
            <a:ext cx="8229600" cy="3810000"/>
          </a:xfrm>
        </p:spPr>
        <p:txBody>
          <a:bodyPr/>
          <a:lstStyle/>
          <a:p>
            <a:pPr marL="0" lvl="0" indent="0" algn="just">
              <a:lnSpc>
                <a:spcPct val="150000"/>
              </a:lnSpc>
              <a:buNone/>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 proposed method we are going to predict rainfall using , </a:t>
            </a:r>
          </a:p>
          <a:p>
            <a:pPr marL="342900" lvl="0" indent="-342900" algn="just">
              <a:lnSpc>
                <a:spcPct val="150000"/>
              </a:lnSpc>
              <a:buFont typeface="+mj-l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Different ML techniques are used for rainfall prediction based on environmental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Random forest and decision tree are working better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77621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pPr algn="ctr"/>
            <a:r>
              <a:rPr lang="en-US" sz="4000" b="1" dirty="0">
                <a:latin typeface="Times New Roman" pitchFamily="18" charset="0"/>
                <a:cs typeface="Times New Roman" pitchFamily="18" charset="0"/>
              </a:rPr>
              <a:t>Proposed method block diagram</a:t>
            </a:r>
          </a:p>
        </p:txBody>
      </p:sp>
      <p:grpSp>
        <p:nvGrpSpPr>
          <p:cNvPr id="19" name="Group 18"/>
          <p:cNvGrpSpPr/>
          <p:nvPr/>
        </p:nvGrpSpPr>
        <p:grpSpPr>
          <a:xfrm>
            <a:off x="2630001" y="1971136"/>
            <a:ext cx="4267200" cy="4734464"/>
            <a:chOff x="0" y="0"/>
            <a:chExt cx="3295651" cy="3629025"/>
          </a:xfrm>
        </p:grpSpPr>
        <p:sp>
          <p:nvSpPr>
            <p:cNvPr id="20" name="Rounded Rectangle 19"/>
            <p:cNvSpPr/>
            <p:nvPr/>
          </p:nvSpPr>
          <p:spPr>
            <a:xfrm>
              <a:off x="1" y="0"/>
              <a:ext cx="3295650" cy="4381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solidFill>
                    <a:schemeClr val="tx1"/>
                  </a:solidFill>
                  <a:effectLst/>
                  <a:latin typeface="Times New Roman"/>
                  <a:ea typeface="Calibri"/>
                  <a:cs typeface="Times New Roman"/>
                </a:rPr>
                <a:t>Upload Rainfall dataset </a:t>
              </a:r>
              <a:endParaRPr lang="en-IN" sz="1400" dirty="0">
                <a:solidFill>
                  <a:schemeClr val="tx1"/>
                </a:solidFill>
                <a:effectLst/>
                <a:ea typeface="Calibri"/>
                <a:cs typeface="Times New Roman"/>
              </a:endParaRPr>
            </a:p>
          </p:txBody>
        </p:sp>
        <p:sp>
          <p:nvSpPr>
            <p:cNvPr id="21" name="Rounded Rectangle 20"/>
            <p:cNvSpPr/>
            <p:nvPr/>
          </p:nvSpPr>
          <p:spPr>
            <a:xfrm rot="10800000" flipV="1">
              <a:off x="0" y="771524"/>
              <a:ext cx="3295650" cy="5048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solidFill>
                    <a:schemeClr val="tx1"/>
                  </a:solidFill>
                  <a:effectLst/>
                  <a:latin typeface="Times New Roman"/>
                  <a:ea typeface="Calibri"/>
                  <a:cs typeface="Times New Roman"/>
                </a:rPr>
                <a:t>Pre-process dataset (</a:t>
              </a:r>
              <a:r>
                <a:rPr lang="en-US" dirty="0" err="1">
                  <a:solidFill>
                    <a:schemeClr val="tx1"/>
                  </a:solidFill>
                  <a:effectLst/>
                  <a:latin typeface="Times New Roman"/>
                  <a:ea typeface="Calibri"/>
                  <a:cs typeface="Times New Roman"/>
                </a:rPr>
                <a:t>Train_test_split</a:t>
              </a:r>
              <a:r>
                <a:rPr lang="en-US" dirty="0">
                  <a:solidFill>
                    <a:schemeClr val="tx1"/>
                  </a:solidFill>
                  <a:effectLst/>
                  <a:latin typeface="Times New Roman"/>
                  <a:ea typeface="Calibri"/>
                  <a:cs typeface="Times New Roman"/>
                </a:rPr>
                <a:t>) </a:t>
              </a:r>
              <a:endParaRPr lang="en-IN" sz="1400" dirty="0">
                <a:solidFill>
                  <a:schemeClr val="tx1"/>
                </a:solidFill>
                <a:effectLst/>
                <a:ea typeface="Calibri"/>
                <a:cs typeface="Times New Roman"/>
              </a:endParaRPr>
            </a:p>
          </p:txBody>
        </p:sp>
        <p:sp>
          <p:nvSpPr>
            <p:cNvPr id="22" name="Rounded Rectangle 21"/>
            <p:cNvSpPr/>
            <p:nvPr/>
          </p:nvSpPr>
          <p:spPr>
            <a:xfrm>
              <a:off x="85725" y="2428875"/>
              <a:ext cx="3209925" cy="4857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solidFill>
                    <a:srgbClr val="000000"/>
                  </a:solidFill>
                  <a:latin typeface="Times New Roman"/>
                  <a:ea typeface="Calibri"/>
                  <a:cs typeface="Times New Roman"/>
                </a:rPr>
                <a:t>Proposed Method (</a:t>
              </a:r>
              <a:r>
                <a:rPr lang="en-US" dirty="0">
                  <a:solidFill>
                    <a:srgbClr val="000000"/>
                  </a:solidFill>
                  <a:effectLst/>
                  <a:latin typeface="Times New Roman"/>
                  <a:ea typeface="Calibri"/>
                  <a:cs typeface="Times New Roman"/>
                </a:rPr>
                <a:t>decision Tree/</a:t>
              </a:r>
              <a:r>
                <a:rPr lang="en-US" dirty="0">
                  <a:solidFill>
                    <a:srgbClr val="000000"/>
                  </a:solidFill>
                  <a:latin typeface="Times New Roman"/>
                  <a:ea typeface="Calibri"/>
                  <a:cs typeface="Times New Roman"/>
                </a:rPr>
                <a:t>Random Forest) </a:t>
              </a:r>
              <a:endParaRPr lang="en-IN" sz="1400" dirty="0">
                <a:effectLst/>
                <a:ea typeface="Calibri"/>
                <a:cs typeface="Times New Roman"/>
              </a:endParaRPr>
            </a:p>
          </p:txBody>
        </p:sp>
        <p:sp>
          <p:nvSpPr>
            <p:cNvPr id="23" name="Rounded Rectangle 22"/>
            <p:cNvSpPr/>
            <p:nvPr/>
          </p:nvSpPr>
          <p:spPr>
            <a:xfrm>
              <a:off x="0" y="1628771"/>
              <a:ext cx="3295651" cy="5048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solidFill>
                    <a:srgbClr val="000000"/>
                  </a:solidFill>
                  <a:effectLst/>
                  <a:latin typeface="Times New Roman"/>
                  <a:ea typeface="Calibri"/>
                  <a:cs typeface="Times New Roman"/>
                </a:rPr>
                <a:t>Existing Algorithms ( SVM/KNN/Random forest) </a:t>
              </a:r>
              <a:endParaRPr lang="en-IN" sz="1400" dirty="0">
                <a:effectLst/>
                <a:ea typeface="Calibri"/>
                <a:cs typeface="Times New Roman"/>
              </a:endParaRPr>
            </a:p>
          </p:txBody>
        </p:sp>
        <p:sp>
          <p:nvSpPr>
            <p:cNvPr id="24" name="Rounded Rectangle 23"/>
            <p:cNvSpPr/>
            <p:nvPr/>
          </p:nvSpPr>
          <p:spPr>
            <a:xfrm>
              <a:off x="0" y="3143250"/>
              <a:ext cx="3295650" cy="4857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dirty="0">
                  <a:solidFill>
                    <a:srgbClr val="000000"/>
                  </a:solidFill>
                  <a:latin typeface="Times New Roman"/>
                  <a:ea typeface="Calibri"/>
                  <a:cs typeface="Times New Roman"/>
                </a:rPr>
                <a:t>Performance Analysis (RMSE and Accuracy)</a:t>
              </a:r>
              <a:r>
                <a:rPr lang="en-US" dirty="0">
                  <a:solidFill>
                    <a:srgbClr val="000000"/>
                  </a:solidFill>
                  <a:effectLst/>
                  <a:latin typeface="Times New Roman"/>
                  <a:ea typeface="Calibri"/>
                  <a:cs typeface="Times New Roman"/>
                </a:rPr>
                <a:t> </a:t>
              </a:r>
              <a:endParaRPr lang="en-IN" sz="1400" dirty="0">
                <a:effectLst/>
                <a:ea typeface="Calibri"/>
                <a:cs typeface="Times New Roman"/>
              </a:endParaRPr>
            </a:p>
          </p:txBody>
        </p:sp>
        <p:cxnSp>
          <p:nvCxnSpPr>
            <p:cNvPr id="25" name="Straight Arrow Connector 24"/>
            <p:cNvCxnSpPr/>
            <p:nvPr/>
          </p:nvCxnSpPr>
          <p:spPr>
            <a:xfrm>
              <a:off x="1619250" y="438150"/>
              <a:ext cx="0" cy="3333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657350" y="1276349"/>
              <a:ext cx="0" cy="3619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657349" y="2085975"/>
              <a:ext cx="0" cy="2952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647825" y="2819400"/>
              <a:ext cx="0" cy="3238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0403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457200" y="685800"/>
            <a:ext cx="8229600" cy="5638800"/>
          </a:xfrm>
        </p:spPr>
        <p:txBody>
          <a:bodyPr>
            <a:noAutofit/>
          </a:bodyPr>
          <a:lstStyle/>
          <a:p>
            <a:pPr algn="just">
              <a:lnSpc>
                <a:spcPct val="150000"/>
              </a:lnSpc>
            </a:pPr>
            <a:r>
              <a:rPr lang="en-US" sz="2000" dirty="0">
                <a:latin typeface="Times New Roman" pitchFamily="18" charset="0"/>
                <a:cs typeface="Times New Roman" pitchFamily="18" charset="0"/>
              </a:rPr>
              <a:t>The data is partitioned into two parts 70% for training and 30% for testing. Four different machine learning techniques like a decision tree, random forest, KNN, SVM were applied on the partitioned data.</a:t>
            </a:r>
          </a:p>
          <a:p>
            <a:pPr algn="just">
              <a:lnSpc>
                <a:spcPct val="150000"/>
              </a:lnSpc>
            </a:pPr>
            <a:r>
              <a:rPr lang="en-US" sz="2000" dirty="0">
                <a:latin typeface="Times New Roman" pitchFamily="18" charset="0"/>
                <a:cs typeface="Times New Roman" pitchFamily="18" charset="0"/>
              </a:rPr>
              <a:t>For these project we used Random Forest and Decision Tree machine learning classifiers.</a:t>
            </a:r>
          </a:p>
          <a:p>
            <a:pPr algn="just">
              <a:lnSpc>
                <a:spcPct val="150000"/>
              </a:lnSpc>
            </a:pPr>
            <a:r>
              <a:rPr lang="en-US" sz="2000" dirty="0">
                <a:latin typeface="Times New Roman" pitchFamily="18" charset="0"/>
                <a:cs typeface="Times New Roman" pitchFamily="18" charset="0"/>
              </a:rPr>
              <a:t>The correlation of the rainfall with minimum temperature, maximum temperature, relative humidity and wind It is found that all four parameters have significant importance with the rainfall speed were calculated.</a:t>
            </a:r>
          </a:p>
          <a:p>
            <a:pPr algn="just">
              <a:lnSpc>
                <a:spcPct val="150000"/>
              </a:lnSpc>
            </a:pPr>
            <a:r>
              <a:rPr lang="en-US" sz="2000" dirty="0">
                <a:latin typeface="Times New Roman" pitchFamily="18" charset="0"/>
                <a:cs typeface="Times New Roman" pitchFamily="18" charset="0"/>
              </a:rPr>
              <a:t>Relative humidity and wind speed were retrieved from minimum temperature and maximum temperature using linear regression and support vector regression as it is found that it gives better accuracy by this method compared to a direct forecast of the individual. </a:t>
            </a:r>
            <a:endParaRPr lang="en-IN" sz="2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14400" y="762000"/>
            <a:ext cx="7772400" cy="838200"/>
          </a:xfrm>
          <a:prstGeom prst="rect">
            <a:avLst/>
          </a:prstGeom>
          <a:ln w="6350" cap="rnd">
            <a:noFill/>
          </a:ln>
        </p:spPr>
        <p:txBody>
          <a:bodyPr vert="horz" rtlCol="0" anchor="b" anchorCtr="0">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900" b="1" spc="-100" dirty="0">
                <a:ln w="3200">
                  <a:solidFill>
                    <a:schemeClr val="bg2">
                      <a:shade val="75000"/>
                      <a:alpha val="25000"/>
                    </a:schemeClr>
                  </a:solidFill>
                  <a:prstDash val="solid"/>
                  <a:round/>
                </a:ln>
                <a:solidFill>
                  <a:schemeClr val="tx1">
                    <a:lumMod val="95000"/>
                    <a:lumOff val="5000"/>
                  </a:schemeClr>
                </a:solidFill>
                <a:effectLst>
                  <a:innerShdw blurRad="50800" dist="25400" dir="13500000">
                    <a:prstClr val="black">
                      <a:alpha val="70000"/>
                    </a:prstClr>
                  </a:innerShdw>
                </a:effectLst>
                <a:latin typeface="Times New Roman" pitchFamily="18" charset="0"/>
                <a:ea typeface="+mj-ea"/>
                <a:cs typeface="Times New Roman" pitchFamily="18" charset="0"/>
              </a:rPr>
              <a:t>RESULTS: a) Select Dataset  </a:t>
            </a:r>
            <a:br>
              <a:rPr kumimoji="0" lang="en-IN" sz="3600" i="0" u="none" strike="noStrike" kern="1200" cap="none" spc="-100" normalizeH="0" baseline="0" noProof="0" dirty="0">
                <a:ln w="3200">
                  <a:solidFill>
                    <a:schemeClr val="bg2">
                      <a:shade val="75000"/>
                      <a:alpha val="25000"/>
                    </a:schemeClr>
                  </a:solidFill>
                  <a:prstDash val="solid"/>
                  <a:round/>
                </a:ln>
                <a:solidFill>
                  <a:schemeClr val="bg1">
                    <a:lumMod val="95000"/>
                    <a:lumOff val="5000"/>
                  </a:schemeClr>
                </a:solidFill>
                <a:effectLst>
                  <a:innerShdw blurRad="50800" dist="25400" dir="13500000">
                    <a:prstClr val="black">
                      <a:alpha val="70000"/>
                    </a:prstClr>
                  </a:innerShdw>
                </a:effectLst>
                <a:uLnTx/>
                <a:uFillTx/>
                <a:latin typeface="Times New Roman" pitchFamily="18" charset="0"/>
                <a:ea typeface="+mj-ea"/>
                <a:cs typeface="Times New Roman" pitchFamily="18" charset="0"/>
              </a:rPr>
            </a:br>
            <a:endParaRPr kumimoji="0" lang="en-US" sz="3600" i="0" u="none" strike="noStrike" kern="1200" cap="none" spc="-100" normalizeH="0" baseline="0" noProof="0" dirty="0">
              <a:ln w="3200">
                <a:solidFill>
                  <a:schemeClr val="bg2">
                    <a:shade val="75000"/>
                    <a:alpha val="25000"/>
                  </a:schemeClr>
                </a:solidFill>
                <a:prstDash val="solid"/>
                <a:round/>
              </a:ln>
              <a:solidFill>
                <a:schemeClr val="bg1">
                  <a:lumMod val="95000"/>
                  <a:lumOff val="5000"/>
                </a:schemeClr>
              </a:solidFill>
              <a:effectLst>
                <a:innerShdw blurRad="50800" dist="25400" dir="13500000">
                  <a:prstClr val="black">
                    <a:alpha val="70000"/>
                  </a:prstClr>
                </a:innerShdw>
              </a:effectLst>
              <a:uLnTx/>
              <a:uFillTx/>
              <a:latin typeface="Times New Roman" pitchFamily="18" charset="0"/>
              <a:ea typeface="+mj-ea"/>
              <a:cs typeface="Times New Roman" pitchFamily="18" charset="0"/>
            </a:endParaRPr>
          </a:p>
        </p:txBody>
      </p:sp>
      <p:sp>
        <p:nvSpPr>
          <p:cNvPr id="7" name="Content Placeholder 2"/>
          <p:cNvSpPr>
            <a:spLocks noGrp="1"/>
          </p:cNvSpPr>
          <p:nvPr>
            <p:ph idx="1"/>
          </p:nvPr>
        </p:nvSpPr>
        <p:spPr>
          <a:xfrm>
            <a:off x="304800" y="1447800"/>
            <a:ext cx="8839200" cy="4572000"/>
          </a:xfrm>
        </p:spPr>
        <p:txBody>
          <a:bodyPr>
            <a:normAutofit/>
          </a:bodyPr>
          <a:lstStyle/>
          <a:p>
            <a:pPr>
              <a:buNone/>
            </a:pPr>
            <a:endParaRPr lang="en-IN" dirty="0"/>
          </a:p>
          <a:p>
            <a:endParaRPr lang="en-US" dirty="0"/>
          </a:p>
        </p:txBody>
      </p:sp>
      <p:pic>
        <p:nvPicPr>
          <p:cNvPr id="5" name="Picture 4"/>
          <p:cNvPicPr/>
          <p:nvPr/>
        </p:nvPicPr>
        <p:blipFill rotWithShape="1">
          <a:blip r:embed="rId2"/>
          <a:srcRect t="5330" b="6480"/>
          <a:stretch/>
        </p:blipFill>
        <p:spPr>
          <a:xfrm>
            <a:off x="0" y="1752600"/>
            <a:ext cx="9144000" cy="5105400"/>
          </a:xfrm>
          <a:prstGeom prst="rect">
            <a:avLst/>
          </a:prstGeom>
        </p:spPr>
      </p:pic>
    </p:spTree>
    <p:extLst>
      <p:ext uri="{BB962C8B-B14F-4D97-AF65-F5344CB8AC3E}">
        <p14:creationId xmlns:p14="http://schemas.microsoft.com/office/powerpoint/2010/main" val="4021433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7A11B-6135-D0E2-4CA2-F6417A001C3F}"/>
              </a:ext>
            </a:extLst>
          </p:cNvPr>
          <p:cNvSpPr>
            <a:spLocks noGrp="1"/>
          </p:cNvSpPr>
          <p:nvPr>
            <p:ph type="title"/>
          </p:nvPr>
        </p:nvSpPr>
        <p:spPr/>
        <p:txBody>
          <a:bodyPr/>
          <a:lstStyle/>
          <a:p>
            <a:r>
              <a:rPr lang="en-US" dirty="0"/>
              <a:t>Preprocessing </a:t>
            </a:r>
            <a:endParaRPr lang="en-IN" dirty="0"/>
          </a:p>
        </p:txBody>
      </p:sp>
      <p:pic>
        <p:nvPicPr>
          <p:cNvPr id="4" name="Content Placeholder 3">
            <a:extLst>
              <a:ext uri="{FF2B5EF4-FFF2-40B4-BE49-F238E27FC236}">
                <a16:creationId xmlns:a16="http://schemas.microsoft.com/office/drawing/2014/main" id="{A786E632-E86B-4392-890D-AD498FE65129}"/>
              </a:ext>
            </a:extLst>
          </p:cNvPr>
          <p:cNvPicPr>
            <a:picLocks noGrp="1"/>
          </p:cNvPicPr>
          <p:nvPr>
            <p:ph idx="1"/>
          </p:nvPr>
        </p:nvPicPr>
        <p:blipFill rotWithShape="1">
          <a:blip r:embed="rId2"/>
          <a:srcRect t="4456" b="5726"/>
          <a:stretch/>
        </p:blipFill>
        <p:spPr>
          <a:xfrm>
            <a:off x="457200" y="2051991"/>
            <a:ext cx="8229600" cy="4155780"/>
          </a:xfrm>
          <a:prstGeom prst="rect">
            <a:avLst/>
          </a:prstGeom>
        </p:spPr>
      </p:pic>
    </p:spTree>
    <p:extLst>
      <p:ext uri="{BB962C8B-B14F-4D97-AF65-F5344CB8AC3E}">
        <p14:creationId xmlns:p14="http://schemas.microsoft.com/office/powerpoint/2010/main" val="1449157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F24C-A6E2-D3B0-FC31-E023017089BC}"/>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Neural Network for prediction</a:t>
            </a:r>
            <a:endParaRPr lang="en-IN" sz="36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48106410-1F74-D021-B802-029232A82ACC}"/>
              </a:ext>
            </a:extLst>
          </p:cNvPr>
          <p:cNvPicPr>
            <a:picLocks noGrp="1"/>
          </p:cNvPicPr>
          <p:nvPr>
            <p:ph idx="1"/>
          </p:nvPr>
        </p:nvPicPr>
        <p:blipFill rotWithShape="1">
          <a:blip r:embed="rId2"/>
          <a:srcRect t="7246" b="5713"/>
          <a:stretch/>
        </p:blipFill>
        <p:spPr>
          <a:xfrm>
            <a:off x="457200" y="2116236"/>
            <a:ext cx="8229600" cy="4027291"/>
          </a:xfrm>
          <a:prstGeom prst="rect">
            <a:avLst/>
          </a:prstGeom>
        </p:spPr>
      </p:pic>
    </p:spTree>
    <p:extLst>
      <p:ext uri="{BB962C8B-B14F-4D97-AF65-F5344CB8AC3E}">
        <p14:creationId xmlns:p14="http://schemas.microsoft.com/office/powerpoint/2010/main" val="277970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914400" y="1447800"/>
            <a:ext cx="7772400" cy="4572000"/>
          </a:xfrm>
        </p:spPr>
        <p:txBody>
          <a:bodyPr>
            <a:normAutofit/>
          </a:bodyPr>
          <a:lstStyle/>
          <a:p>
            <a:pPr>
              <a:buNone/>
            </a:pPr>
            <a:endParaRPr lang="en-IN" dirty="0"/>
          </a:p>
          <a:p>
            <a:endParaRPr lang="en-US" dirty="0"/>
          </a:p>
        </p:txBody>
      </p:sp>
      <p:sp>
        <p:nvSpPr>
          <p:cNvPr id="2" name="Title 1">
            <a:extLst>
              <a:ext uri="{FF2B5EF4-FFF2-40B4-BE49-F238E27FC236}">
                <a16:creationId xmlns:a16="http://schemas.microsoft.com/office/drawing/2014/main" id="{05BD796D-D1F5-208C-2B5F-3F575D401FA5}"/>
              </a:ext>
            </a:extLst>
          </p:cNvPr>
          <p:cNvSpPr>
            <a:spLocks noGrp="1"/>
          </p:cNvSpPr>
          <p:nvPr>
            <p:ph type="title"/>
          </p:nvPr>
        </p:nvSpPr>
        <p:spPr>
          <a:xfrm>
            <a:off x="434083" y="304800"/>
            <a:ext cx="8229600" cy="1143000"/>
          </a:xfrm>
        </p:spPr>
        <p:txBody>
          <a:bodyPr>
            <a:normAutofit/>
          </a:bodyPr>
          <a:lstStyle/>
          <a:p>
            <a:pPr algn="ctr"/>
            <a:r>
              <a:rPr lang="en-US" sz="3600" b="1" dirty="0">
                <a:latin typeface="Times New Roman" panose="02020603050405020304" pitchFamily="18" charset="0"/>
                <a:cs typeface="Times New Roman" panose="02020603050405020304" pitchFamily="18" charset="0"/>
              </a:rPr>
              <a:t>DT for prediction</a:t>
            </a:r>
            <a:endParaRPr lang="en-IN" sz="3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8832692-7DBF-9E8C-9535-53436E906397}"/>
              </a:ext>
            </a:extLst>
          </p:cNvPr>
          <p:cNvPicPr>
            <a:picLocks noChangeAspect="1"/>
          </p:cNvPicPr>
          <p:nvPr/>
        </p:nvPicPr>
        <p:blipFill>
          <a:blip r:embed="rId2"/>
          <a:stretch>
            <a:fillRect/>
          </a:stretch>
        </p:blipFill>
        <p:spPr>
          <a:xfrm>
            <a:off x="0" y="1676400"/>
            <a:ext cx="9144000" cy="5212422"/>
          </a:xfrm>
          <a:prstGeom prst="rect">
            <a:avLst/>
          </a:prstGeom>
        </p:spPr>
      </p:pic>
    </p:spTree>
    <p:extLst>
      <p:ext uri="{BB962C8B-B14F-4D97-AF65-F5344CB8AC3E}">
        <p14:creationId xmlns:p14="http://schemas.microsoft.com/office/powerpoint/2010/main" val="4115410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14400" y="762000"/>
            <a:ext cx="7772400" cy="838200"/>
          </a:xfrm>
          <a:prstGeom prst="rect">
            <a:avLst/>
          </a:prstGeom>
          <a:ln w="6350" cap="rnd">
            <a:noFill/>
          </a:ln>
        </p:spPr>
        <p:txBody>
          <a:bodyPr vert="horz" rtlCol="0" anchor="b" anchorCtr="0">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900" b="1" spc="-100" dirty="0">
                <a:ln w="3200">
                  <a:solidFill>
                    <a:schemeClr val="bg2">
                      <a:shade val="75000"/>
                      <a:alpha val="25000"/>
                    </a:schemeClr>
                  </a:solidFill>
                  <a:prstDash val="solid"/>
                  <a:round/>
                </a:ln>
                <a:solidFill>
                  <a:schemeClr val="tx1">
                    <a:lumMod val="95000"/>
                    <a:lumOff val="5000"/>
                  </a:schemeClr>
                </a:solidFill>
                <a:effectLst>
                  <a:innerShdw blurRad="50800" dist="25400" dir="13500000">
                    <a:prstClr val="black">
                      <a:alpha val="70000"/>
                    </a:prstClr>
                  </a:innerShdw>
                </a:effectLst>
                <a:latin typeface="Times New Roman" pitchFamily="18" charset="0"/>
                <a:ea typeface="+mj-ea"/>
                <a:cs typeface="Times New Roman" pitchFamily="18" charset="0"/>
              </a:rPr>
              <a:t> </a:t>
            </a:r>
            <a:br>
              <a:rPr kumimoji="0" lang="en-IN" sz="3600" i="0" u="none" strike="noStrike" kern="1200" cap="none" spc="-100" normalizeH="0" baseline="0" noProof="0" dirty="0">
                <a:ln w="3200">
                  <a:solidFill>
                    <a:schemeClr val="bg2">
                      <a:shade val="75000"/>
                      <a:alpha val="25000"/>
                    </a:schemeClr>
                  </a:solidFill>
                  <a:prstDash val="solid"/>
                  <a:round/>
                </a:ln>
                <a:solidFill>
                  <a:schemeClr val="bg1">
                    <a:lumMod val="95000"/>
                    <a:lumOff val="5000"/>
                  </a:schemeClr>
                </a:solidFill>
                <a:effectLst>
                  <a:innerShdw blurRad="50800" dist="25400" dir="13500000">
                    <a:prstClr val="black">
                      <a:alpha val="70000"/>
                    </a:prstClr>
                  </a:innerShdw>
                </a:effectLst>
                <a:uLnTx/>
                <a:uFillTx/>
                <a:latin typeface="Times New Roman" pitchFamily="18" charset="0"/>
                <a:ea typeface="+mj-ea"/>
                <a:cs typeface="Times New Roman" pitchFamily="18" charset="0"/>
              </a:rPr>
            </a:br>
            <a:endParaRPr kumimoji="0" lang="en-US" sz="3600" i="0" u="none" strike="noStrike" kern="1200" cap="none" spc="-100" normalizeH="0" baseline="0" noProof="0" dirty="0">
              <a:ln w="3200">
                <a:solidFill>
                  <a:schemeClr val="bg2">
                    <a:shade val="75000"/>
                    <a:alpha val="25000"/>
                  </a:schemeClr>
                </a:solidFill>
                <a:prstDash val="solid"/>
                <a:round/>
              </a:ln>
              <a:solidFill>
                <a:schemeClr val="bg1">
                  <a:lumMod val="95000"/>
                  <a:lumOff val="5000"/>
                </a:schemeClr>
              </a:solidFill>
              <a:effectLst>
                <a:innerShdw blurRad="50800" dist="25400" dir="13500000">
                  <a:prstClr val="black">
                    <a:alpha val="70000"/>
                  </a:prstClr>
                </a:innerShdw>
              </a:effectLst>
              <a:uLnTx/>
              <a:uFillTx/>
              <a:latin typeface="Times New Roman" pitchFamily="18" charset="0"/>
              <a:ea typeface="+mj-ea"/>
              <a:cs typeface="Times New Roman" pitchFamily="18" charset="0"/>
            </a:endParaRPr>
          </a:p>
        </p:txBody>
      </p:sp>
      <p:sp>
        <p:nvSpPr>
          <p:cNvPr id="7" name="Content Placeholder 2"/>
          <p:cNvSpPr>
            <a:spLocks noGrp="1"/>
          </p:cNvSpPr>
          <p:nvPr>
            <p:ph idx="1"/>
          </p:nvPr>
        </p:nvSpPr>
        <p:spPr>
          <a:xfrm>
            <a:off x="914400" y="1447800"/>
            <a:ext cx="7772400" cy="4572000"/>
          </a:xfrm>
        </p:spPr>
        <p:txBody>
          <a:bodyPr>
            <a:normAutofit/>
          </a:bodyPr>
          <a:lstStyle/>
          <a:p>
            <a:pPr>
              <a:buNone/>
            </a:pPr>
            <a:endParaRPr lang="en-IN" dirty="0"/>
          </a:p>
          <a:p>
            <a:endParaRPr lang="en-US" dirty="0"/>
          </a:p>
        </p:txBody>
      </p:sp>
      <p:pic>
        <p:nvPicPr>
          <p:cNvPr id="6" name="Picture 5"/>
          <p:cNvPicPr/>
          <p:nvPr/>
        </p:nvPicPr>
        <p:blipFill rotWithShape="1">
          <a:blip r:embed="rId2"/>
          <a:srcRect t="3339" b="6678"/>
          <a:stretch/>
        </p:blipFill>
        <p:spPr>
          <a:xfrm>
            <a:off x="0" y="1447800"/>
            <a:ext cx="9144000" cy="5410200"/>
          </a:xfrm>
          <a:prstGeom prst="rect">
            <a:avLst/>
          </a:prstGeom>
        </p:spPr>
      </p:pic>
      <p:sp>
        <p:nvSpPr>
          <p:cNvPr id="2" name="Title 1">
            <a:extLst>
              <a:ext uri="{FF2B5EF4-FFF2-40B4-BE49-F238E27FC236}">
                <a16:creationId xmlns:a16="http://schemas.microsoft.com/office/drawing/2014/main" id="{E7CB8D67-9048-7E0C-3114-7F2F57B69B23}"/>
              </a:ext>
            </a:extLst>
          </p:cNvPr>
          <p:cNvSpPr>
            <a:spLocks noGrp="1"/>
          </p:cNvSpPr>
          <p:nvPr>
            <p:ph type="title"/>
          </p:nvPr>
        </p:nvSpPr>
        <p:spPr>
          <a:xfrm>
            <a:off x="381000" y="190500"/>
            <a:ext cx="8229600" cy="1143000"/>
          </a:xfrm>
        </p:spPr>
        <p:txBody>
          <a:bodyPr>
            <a:normAutofit/>
          </a:bodyPr>
          <a:lstStyle/>
          <a:p>
            <a:pPr algn="ctr"/>
            <a:r>
              <a:rPr lang="en-US" sz="3200" b="1" dirty="0">
                <a:latin typeface="Times New Roman" panose="02020603050405020304" pitchFamily="18" charset="0"/>
                <a:cs typeface="Times New Roman" panose="02020603050405020304" pitchFamily="18" charset="0"/>
              </a:rPr>
              <a:t>Performance Analysis of Rainfall prediction using different ML techniques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9948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591312"/>
          </a:xfrm>
        </p:spPr>
        <p:txBody>
          <a:bodyPr>
            <a:normAutofit fontScale="90000"/>
          </a:bodyPr>
          <a:lstStyle/>
          <a:p>
            <a:pPr algn="ctr"/>
            <a:r>
              <a:rPr lang="en-US" sz="4400" b="1" dirty="0">
                <a:latin typeface="Times New Roman" pitchFamily="18" charset="0"/>
                <a:cs typeface="Times New Roman" pitchFamily="18" charset="0"/>
              </a:rPr>
              <a:t>Conclusion</a:t>
            </a:r>
          </a:p>
        </p:txBody>
      </p:sp>
      <p:sp>
        <p:nvSpPr>
          <p:cNvPr id="2" name="Content Placeholder 1"/>
          <p:cNvSpPr>
            <a:spLocks noGrp="1"/>
          </p:cNvSpPr>
          <p:nvPr>
            <p:ph idx="1"/>
          </p:nvPr>
        </p:nvSpPr>
        <p:spPr>
          <a:xfrm>
            <a:off x="228600" y="1371600"/>
            <a:ext cx="8763000" cy="5410200"/>
          </a:xfrm>
        </p:spPr>
        <p:txBody>
          <a:bodyPr>
            <a:normAutofit/>
          </a:bodyPr>
          <a:lstStyle/>
          <a:p>
            <a:pPr algn="just">
              <a:lnSpc>
                <a:spcPct val="150000"/>
              </a:lnSpc>
            </a:pPr>
            <a:r>
              <a:rPr lang="en-IN" sz="2000" dirty="0">
                <a:latin typeface="Times New Roman" pitchFamily="18" charset="0"/>
                <a:cs typeface="Times New Roman" pitchFamily="18" charset="0"/>
              </a:rPr>
              <a:t>By using various machine learning and forecasting techniques we proposed a work to attempt forecast rainfall. </a:t>
            </a:r>
          </a:p>
          <a:p>
            <a:pPr algn="just">
              <a:lnSpc>
                <a:spcPct val="150000"/>
              </a:lnSpc>
            </a:pPr>
            <a:r>
              <a:rPr lang="en-IN" sz="2000" dirty="0">
                <a:latin typeface="Times New Roman" pitchFamily="18" charset="0"/>
                <a:cs typeface="Times New Roman" pitchFamily="18" charset="0"/>
              </a:rPr>
              <a:t>Rainfall is dependent on different parameters we a better accuracy using limited parameter. </a:t>
            </a:r>
          </a:p>
          <a:p>
            <a:pPr algn="just">
              <a:lnSpc>
                <a:spcPct val="150000"/>
              </a:lnSpc>
            </a:pPr>
            <a:r>
              <a:rPr lang="en-IN" sz="2000" dirty="0">
                <a:latin typeface="Times New Roman" pitchFamily="18" charset="0"/>
                <a:cs typeface="Times New Roman" pitchFamily="18" charset="0"/>
              </a:rPr>
              <a:t>In all algorithms Decision Tree and Random Forest gave high accuracy and outperform other algorithms. </a:t>
            </a:r>
          </a:p>
          <a:p>
            <a:pPr algn="just">
              <a:lnSpc>
                <a:spcPct val="150000"/>
              </a:lnSpc>
            </a:pPr>
            <a:r>
              <a:rPr lang="en-IN" sz="2000" dirty="0">
                <a:latin typeface="Times New Roman" pitchFamily="18" charset="0"/>
                <a:cs typeface="Times New Roman" pitchFamily="18" charset="0"/>
              </a:rPr>
              <a:t>Validations for forecasted parameters are done using RMSE measure. A study can also be done using more observations for particular region or area, and design this kind of model on big data framework so that computation can be faster with higher accuracy.</a:t>
            </a:r>
          </a:p>
          <a:p>
            <a:pPr marL="0" indent="0" algn="just">
              <a:lnSpc>
                <a:spcPct val="120000"/>
              </a:lnSpc>
              <a:buNone/>
            </a:pPr>
            <a:endParaRPr lang="en-US"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591312"/>
          </a:xfrm>
        </p:spPr>
        <p:txBody>
          <a:bodyPr>
            <a:normAutofit fontScale="90000"/>
          </a:bodyPr>
          <a:lstStyle/>
          <a:p>
            <a:pPr algn="ctr"/>
            <a:r>
              <a:rPr lang="en-US" sz="4400" b="1" dirty="0">
                <a:latin typeface="Times New Roman" pitchFamily="18" charset="0"/>
                <a:cs typeface="Times New Roman" pitchFamily="18" charset="0"/>
              </a:rPr>
              <a:t>Python Libraries </a:t>
            </a:r>
          </a:p>
        </p:txBody>
      </p:sp>
      <p:sp>
        <p:nvSpPr>
          <p:cNvPr id="2" name="Content Placeholder 1"/>
          <p:cNvSpPr>
            <a:spLocks noGrp="1"/>
          </p:cNvSpPr>
          <p:nvPr>
            <p:ph idx="1"/>
          </p:nvPr>
        </p:nvSpPr>
        <p:spPr>
          <a:xfrm>
            <a:off x="228600" y="1371600"/>
            <a:ext cx="8763000" cy="5410200"/>
          </a:xfrm>
        </p:spPr>
        <p:txBody>
          <a:bodyPr>
            <a:normAutofit fontScale="92500" lnSpcReduction="10000"/>
          </a:bodyPr>
          <a:lstStyle/>
          <a:p>
            <a:pPr algn="just">
              <a:lnSpc>
                <a:spcPct val="120000"/>
              </a:lnSpc>
            </a:pPr>
            <a:r>
              <a:rPr lang="en-US" sz="2000" b="1" dirty="0">
                <a:latin typeface="Times New Roman" pitchFamily="18" charset="0"/>
                <a:cs typeface="Times New Roman" pitchFamily="18" charset="0"/>
              </a:rPr>
              <a:t>NumPy</a:t>
            </a:r>
            <a:r>
              <a:rPr lang="en-US" sz="2000" dirty="0">
                <a:latin typeface="Times New Roman" pitchFamily="18" charset="0"/>
                <a:cs typeface="Times New Roman" pitchFamily="18" charset="0"/>
              </a:rPr>
              <a:t>: It is a Python library used for working with arrays. It also has functions for working in domain of linear algebra, Fourier transform, and matrices. NumPy was created in 2005 by Travis Oliphant. It is an open source project and you can use it freely.</a:t>
            </a:r>
          </a:p>
          <a:p>
            <a:pPr algn="just">
              <a:lnSpc>
                <a:spcPct val="120000"/>
              </a:lnSpc>
            </a:pPr>
            <a:r>
              <a:rPr lang="en-US" sz="2000" b="1" dirty="0">
                <a:latin typeface="Times New Roman" pitchFamily="18" charset="0"/>
                <a:cs typeface="Times New Roman" pitchFamily="18" charset="0"/>
              </a:rPr>
              <a:t>Pandas : </a:t>
            </a:r>
            <a:r>
              <a:rPr lang="en-US" sz="2000" dirty="0">
                <a:latin typeface="Times New Roman" pitchFamily="18" charset="0"/>
                <a:cs typeface="Times New Roman" pitchFamily="18" charset="0"/>
              </a:rPr>
              <a:t>It is an open source library in Python. It provides ready to use high-performance data structures and data analysis </a:t>
            </a:r>
            <a:r>
              <a:rPr lang="en-US" sz="2000" dirty="0" err="1">
                <a:latin typeface="Times New Roman" pitchFamily="18" charset="0"/>
                <a:cs typeface="Times New Roman" pitchFamily="18" charset="0"/>
              </a:rPr>
              <a:t>tools.Pandas</a:t>
            </a:r>
            <a:r>
              <a:rPr lang="en-US" sz="2000" dirty="0">
                <a:latin typeface="Times New Roman" pitchFamily="18" charset="0"/>
                <a:cs typeface="Times New Roman" pitchFamily="18" charset="0"/>
              </a:rPr>
              <a:t> module runs on top of NumPy and it is popularly used for data science and data analytics.</a:t>
            </a:r>
          </a:p>
          <a:p>
            <a:pPr algn="just">
              <a:lnSpc>
                <a:spcPct val="120000"/>
              </a:lnSpc>
            </a:pPr>
            <a:r>
              <a:rPr lang="en-US" sz="2000" b="1" dirty="0">
                <a:latin typeface="Times New Roman" pitchFamily="18" charset="0"/>
                <a:cs typeface="Times New Roman" pitchFamily="18" charset="0"/>
              </a:rPr>
              <a:t>Matplotlib: </a:t>
            </a:r>
            <a:r>
              <a:rPr lang="en-US" sz="2000" dirty="0">
                <a:latin typeface="Times New Roman" pitchFamily="18" charset="0"/>
                <a:cs typeface="Times New Roman" pitchFamily="18" charset="0"/>
              </a:rPr>
              <a:t>It is a python library used to create 2D graphs and plots by using python scripts. It has a module named </a:t>
            </a:r>
            <a:r>
              <a:rPr lang="en-US" sz="2000" dirty="0" err="1">
                <a:latin typeface="Times New Roman" pitchFamily="18" charset="0"/>
                <a:cs typeface="Times New Roman" pitchFamily="18" charset="0"/>
              </a:rPr>
              <a:t>pyplot</a:t>
            </a:r>
            <a:r>
              <a:rPr lang="en-US" sz="2000" dirty="0">
                <a:latin typeface="Times New Roman" pitchFamily="18" charset="0"/>
                <a:cs typeface="Times New Roman" pitchFamily="18" charset="0"/>
              </a:rPr>
              <a:t> which makes things easy for plotting by providing feature to control line styles, font properties, formatting axes.</a:t>
            </a:r>
          </a:p>
          <a:p>
            <a:pPr algn="just">
              <a:lnSpc>
                <a:spcPct val="120000"/>
              </a:lnSpc>
            </a:pPr>
            <a:r>
              <a:rPr lang="en-US" sz="2000" dirty="0">
                <a:latin typeface="Times New Roman" pitchFamily="18" charset="0"/>
                <a:cs typeface="Times New Roman" pitchFamily="18" charset="0"/>
              </a:rPr>
              <a:t>SKLEARN</a:t>
            </a:r>
          </a:p>
          <a:p>
            <a:pPr algn="just">
              <a:lnSpc>
                <a:spcPct val="120000"/>
              </a:lnSpc>
            </a:pPr>
            <a:r>
              <a:rPr lang="en-US" sz="2000" b="1" dirty="0">
                <a:latin typeface="Times New Roman" pitchFamily="18" charset="0"/>
                <a:cs typeface="Times New Roman" pitchFamily="18" charset="0"/>
              </a:rPr>
              <a:t>Tensor Flow: </a:t>
            </a:r>
            <a:r>
              <a:rPr lang="en-US" sz="2000" dirty="0">
                <a:latin typeface="Times New Roman" pitchFamily="18" charset="0"/>
                <a:cs typeface="Times New Roman" pitchFamily="18" charset="0"/>
              </a:rPr>
              <a:t>It is a Python library for fast numerical computing created and released by Google. It is a foundation library that can be used to create Deep Learning models directly or by using wrapper libraries that simplify the process built on top of Tensor Flow.</a:t>
            </a:r>
          </a:p>
        </p:txBody>
      </p:sp>
    </p:spTree>
    <p:extLst>
      <p:ext uri="{BB962C8B-B14F-4D97-AF65-F5344CB8AC3E}">
        <p14:creationId xmlns:p14="http://schemas.microsoft.com/office/powerpoint/2010/main" val="1379237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03E17-D47B-4FEB-935D-09CB58F8DB35}"/>
              </a:ext>
            </a:extLst>
          </p:cNvPr>
          <p:cNvSpPr>
            <a:spLocks noGrp="1"/>
          </p:cNvSpPr>
          <p:nvPr>
            <p:ph idx="1"/>
          </p:nvPr>
        </p:nvSpPr>
        <p:spPr>
          <a:xfrm>
            <a:off x="381000" y="2362200"/>
            <a:ext cx="8229600" cy="2895600"/>
          </a:xfrm>
        </p:spPr>
        <p:txBody>
          <a:bodyPr>
            <a:normAutofit/>
          </a:bodyPr>
          <a:lstStyle/>
          <a:p>
            <a:pPr marL="0" indent="0" algn="ctr">
              <a:buNone/>
            </a:pPr>
            <a:r>
              <a:rPr lang="en-US" sz="6600" b="1" dirty="0">
                <a:solidFill>
                  <a:schemeClr val="accent2">
                    <a:lumMod val="75000"/>
                  </a:schemeClr>
                </a:solidFill>
              </a:rPr>
              <a:t>Thank You</a:t>
            </a:r>
            <a:endParaRPr lang="en-IN" sz="6600" b="1" dirty="0">
              <a:solidFill>
                <a:schemeClr val="accent2">
                  <a:lumMod val="75000"/>
                </a:schemeClr>
              </a:solidFill>
            </a:endParaRPr>
          </a:p>
        </p:txBody>
      </p:sp>
    </p:spTree>
    <p:extLst>
      <p:ext uri="{BB962C8B-B14F-4D97-AF65-F5344CB8AC3E}">
        <p14:creationId xmlns:p14="http://schemas.microsoft.com/office/powerpoint/2010/main" val="1677315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534</TotalTime>
  <Words>1073</Words>
  <Application>Microsoft Office PowerPoint</Application>
  <PresentationFormat>On-screen Show (4:3)</PresentationFormat>
  <Paragraphs>74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Cambria</vt:lpstr>
      <vt:lpstr>Constantia</vt:lpstr>
      <vt:lpstr>Times New Roman</vt:lpstr>
      <vt:lpstr>Wingdings 2</vt:lpstr>
      <vt:lpstr>Flow</vt:lpstr>
      <vt:lpstr>    </vt:lpstr>
      <vt:lpstr>Overview</vt:lpstr>
      <vt:lpstr>Abstract</vt:lpstr>
      <vt:lpstr>Introduction</vt:lpstr>
      <vt:lpstr>PowerPoint Presentation</vt:lpstr>
      <vt:lpstr>PowerPoint Presentation</vt:lpstr>
      <vt:lpstr>Existing techniques of rainfall prediction and their limitations</vt:lpstr>
      <vt:lpstr>Limitations/ Drawbacks of Existing Method </vt:lpstr>
      <vt:lpstr>Proposed Method</vt:lpstr>
      <vt:lpstr>Proposed method block diagram</vt:lpstr>
      <vt:lpstr>PowerPoint Presentation</vt:lpstr>
      <vt:lpstr>PowerPoint Presentation</vt:lpstr>
      <vt:lpstr>Preprocessing </vt:lpstr>
      <vt:lpstr>Neural Network for prediction</vt:lpstr>
      <vt:lpstr>DT for prediction</vt:lpstr>
      <vt:lpstr>Performance Analysis of Rainfall prediction using different ML techniques</vt:lpstr>
      <vt:lpstr>Conclusion</vt:lpstr>
      <vt:lpstr>Python Libraries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Image Forgery Detection Using Adaptive Over-Segmentation and Feature Point Matching</dc:title>
  <dc:creator>DSP</dc:creator>
  <cp:lastModifiedBy>sri Nikitha</cp:lastModifiedBy>
  <cp:revision>78</cp:revision>
  <dcterms:created xsi:type="dcterms:W3CDTF">2016-09-17T05:57:00Z</dcterms:created>
  <dcterms:modified xsi:type="dcterms:W3CDTF">2025-11-16T05:47:06Z</dcterms:modified>
</cp:coreProperties>
</file>